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NexDesk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2300" b="0" i="0">
                <a:solidFill>
                  <a:srgbClr val="2DD4BF"/>
                </a:solidFill>
                <a:latin typeface="Calibri"/>
              </a:rPr>
              <a:t>AI-Based IT Ticket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97480"/>
            <a:ext cx="27432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6583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An AI-powered IT helpdesk platform that automates ticket analysis,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issue classification, priority detection, root-cause identification,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similar-ticket retrieval, and solution recommendation.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206240"/>
            <a:ext cx="1199684" cy="457200"/>
          </a:xfrm>
          <a:prstGeom prst="roundRect">
            <a:avLst>
              <a:gd name="adj" fmla="val 4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11996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AI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1244" y="4206240"/>
            <a:ext cx="1872676" cy="457200"/>
          </a:xfrm>
          <a:prstGeom prst="roundRect">
            <a:avLst>
              <a:gd name="adj" fmla="val 4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1244" y="4206240"/>
            <a:ext cx="18726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Auto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00" y="4206240"/>
            <a:ext cx="1788552" cy="457200"/>
          </a:xfrm>
          <a:prstGeom prst="roundRect">
            <a:avLst>
              <a:gd name="adj" fmla="val 4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00" y="4206240"/>
            <a:ext cx="17885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Priority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232" y="4206240"/>
            <a:ext cx="1115560" cy="457200"/>
          </a:xfrm>
          <a:prstGeom prst="roundRect">
            <a:avLst>
              <a:gd name="adj" fmla="val 4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232" y="4206240"/>
            <a:ext cx="1115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Root-Cause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6672" y="4206240"/>
            <a:ext cx="1536180" cy="457200"/>
          </a:xfrm>
          <a:prstGeom prst="roundRect">
            <a:avLst>
              <a:gd name="adj" fmla="val 4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6672" y="4206240"/>
            <a:ext cx="15361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Similar Tickets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5732" y="4206240"/>
            <a:ext cx="1536180" cy="457200"/>
          </a:xfrm>
          <a:prstGeom prst="roundRect">
            <a:avLst>
              <a:gd name="adj" fmla="val 4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5732" y="4206240"/>
            <a:ext cx="15361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3749039" cy="4480560"/>
          </a:xfrm>
          <a:prstGeom prst="roundRect">
            <a:avLst/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5544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0728C"/>
                </a:solidFill>
                <a:latin typeface="Calibri"/>
              </a:rPr>
              <a:t>PRODUCT HERO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05740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1" i="0">
                <a:solidFill>
                  <a:srgbClr val="2DD4BF"/>
                </a:solidFill>
                <a:latin typeface="Calibri"/>
              </a:rPr>
              <a:t>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6243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3A4BC"/>
                </a:solidFill>
                <a:latin typeface="Calibri"/>
              </a:rPr>
              <a:t>Open Tickets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05740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14884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1" i="0">
                <a:solidFill>
                  <a:srgbClr val="F59E0B"/>
                </a:solidFill>
                <a:latin typeface="Calibri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6243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3A4BC"/>
                </a:solidFill>
                <a:latin typeface="Calibri"/>
              </a:rPr>
              <a:t>High Priority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10896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32004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1" i="0">
                <a:solidFill>
                  <a:srgbClr val="34D399"/>
                </a:solidFill>
                <a:latin typeface="Calibri"/>
              </a:rPr>
              <a:t>642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6758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3A4BC"/>
                </a:solidFill>
                <a:latin typeface="Calibri"/>
              </a:rPr>
              <a:t>Resolved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310896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32004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1" i="0">
                <a:solidFill>
                  <a:srgbClr val="3B82F6"/>
                </a:solidFill>
                <a:latin typeface="Calibri"/>
              </a:rPr>
              <a:t>3.2h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6758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3A4BC"/>
                </a:solidFill>
                <a:latin typeface="Calibri"/>
              </a:rPr>
              <a:t>Avg SLA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52120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3A4BC"/>
                </a:solidFill>
                <a:latin typeface="Calibri"/>
              </a:rPr>
              <a:t>Product demo · Engineering review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60728C"/>
                </a:solidFill>
                <a:latin typeface="Calibri"/>
              </a:rPr>
              <a:t>Presented by AI Engineering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01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Problem: Why Traditional IT Support Fails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86B6B"/>
                </a:solidFill>
                <a:latin typeface="Calibri"/>
              </a:rPr>
              <a:t>Pain points in legacy helpdesks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Manual ticket classification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Slow ticket resolution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Incorrect prioritization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Duplicate tickets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Repeated troubleshooting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No intelligent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Traditional  vs  AI-Powered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1460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6EDF5"/>
                </a:solidFill>
                <a:latin typeface="Calibri"/>
              </a:rPr>
              <a:t>Triage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532888"/>
            <a:ext cx="1325880" cy="365760"/>
          </a:xfrm>
          <a:prstGeom prst="rect">
            <a:avLst/>
          </a:prstGeom>
          <a:solidFill>
            <a:srgbClr val="3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532888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F86B6B"/>
                </a:solidFill>
                <a:latin typeface="Calibri"/>
              </a:rPr>
              <a:t>Manual / slow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0" y="2715768"/>
            <a:ext cx="320040" cy="0"/>
          </a:xfrm>
          <a:prstGeom prst="bentConnector3">
            <a:avLst/>
          </a:prstGeom>
          <a:ln w="25400">
            <a:solidFill>
              <a:srgbClr val="93A4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692640" y="2532888"/>
            <a:ext cx="1737360" cy="365760"/>
          </a:xfrm>
          <a:prstGeom prst="rect">
            <a:avLst/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532888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4D399"/>
                </a:solidFill>
                <a:latin typeface="Calibri"/>
              </a:rPr>
              <a:t>Auto / instant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27832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6EDF5"/>
                </a:solidFill>
                <a:latin typeface="Calibri"/>
              </a:rPr>
              <a:t>Priority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3246120"/>
            <a:ext cx="1325880" cy="365760"/>
          </a:xfrm>
          <a:prstGeom prst="rect">
            <a:avLst/>
          </a:prstGeom>
          <a:solidFill>
            <a:srgbClr val="3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24612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F86B6B"/>
                </a:solidFill>
                <a:latin typeface="Calibri"/>
              </a:rPr>
              <a:t>Guesswork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80" y="3429000"/>
            <a:ext cx="320040" cy="0"/>
          </a:xfrm>
          <a:prstGeom prst="bentConnector3">
            <a:avLst/>
          </a:prstGeom>
          <a:ln w="25400">
            <a:solidFill>
              <a:srgbClr val="93A4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692640" y="3246120"/>
            <a:ext cx="1737360" cy="365760"/>
          </a:xfrm>
          <a:prstGeom prst="rect">
            <a:avLst/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32461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4D399"/>
                </a:solidFill>
                <a:latin typeface="Calibri"/>
              </a:rPr>
              <a:t>Sentiment-aware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94106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6EDF5"/>
                </a:solidFill>
                <a:latin typeface="Calibri"/>
              </a:rPr>
              <a:t>Duplicates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3959352"/>
            <a:ext cx="1325880" cy="365760"/>
          </a:xfrm>
          <a:prstGeom prst="rect">
            <a:avLst/>
          </a:prstGeom>
          <a:solidFill>
            <a:srgbClr val="3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959352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F86B6B"/>
                </a:solidFill>
                <a:latin typeface="Calibri"/>
              </a:rPr>
              <a:t>Common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6880" y="4142232"/>
            <a:ext cx="320040" cy="0"/>
          </a:xfrm>
          <a:prstGeom prst="bentConnector3">
            <a:avLst/>
          </a:prstGeom>
          <a:ln w="25400">
            <a:solidFill>
              <a:srgbClr val="93A4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692640" y="3959352"/>
            <a:ext cx="1737360" cy="365760"/>
          </a:xfrm>
          <a:prstGeom prst="rect">
            <a:avLst/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95935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4D399"/>
                </a:solidFill>
                <a:latin typeface="Calibri"/>
              </a:rPr>
              <a:t>Detected &amp; merged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654296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6EDF5"/>
                </a:solidFill>
                <a:latin typeface="Calibri"/>
              </a:rPr>
              <a:t>Resolution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672584"/>
            <a:ext cx="1325880" cy="365760"/>
          </a:xfrm>
          <a:prstGeom prst="rect">
            <a:avLst/>
          </a:prstGeom>
          <a:solidFill>
            <a:srgbClr val="3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4672584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F86B6B"/>
                </a:solidFill>
                <a:latin typeface="Calibri"/>
              </a:rPr>
              <a:t>Repeated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26880" y="4855464"/>
            <a:ext cx="320040" cy="0"/>
          </a:xfrm>
          <a:prstGeom prst="bentConnector3">
            <a:avLst/>
          </a:prstGeom>
          <a:ln w="25400">
            <a:solidFill>
              <a:srgbClr val="93A4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4672584"/>
            <a:ext cx="1737360" cy="365760"/>
          </a:xfrm>
          <a:prstGeom prst="rect">
            <a:avLst/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4672584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4D399"/>
                </a:solidFill>
                <a:latin typeface="Calibri"/>
              </a:rPr>
              <a:t>Reuse past fixes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367528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6EDF5"/>
                </a:solidFill>
                <a:latin typeface="Calibri"/>
              </a:rPr>
              <a:t>Insight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5385816"/>
            <a:ext cx="1325880" cy="365760"/>
          </a:xfrm>
          <a:prstGeom prst="rect">
            <a:avLst/>
          </a:prstGeom>
          <a:solidFill>
            <a:srgbClr val="3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5385816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F86B6B"/>
                </a:solidFill>
                <a:latin typeface="Calibri"/>
              </a:rPr>
              <a:t>None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26880" y="5568696"/>
            <a:ext cx="320040" cy="0"/>
          </a:xfrm>
          <a:prstGeom prst="bentConnector3">
            <a:avLst/>
          </a:prstGeom>
          <a:ln w="25400">
            <a:solidFill>
              <a:srgbClr val="93A4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692640" y="5385816"/>
            <a:ext cx="1737360" cy="365760"/>
          </a:xfrm>
          <a:prstGeom prst="rect">
            <a:avLst/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5385816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4D399"/>
                </a:solidFill>
                <a:latin typeface="Calibri"/>
              </a:rPr>
              <a:t>Live 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02 ·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Solution: How NexDesk Helps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743200" cy="36576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743200" cy="50800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993392"/>
            <a:ext cx="402336" cy="402336"/>
          </a:xfrm>
          <a:prstGeom prst="ellipse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993392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86B6B"/>
                </a:solidFill>
                <a:latin typeface="Calibri"/>
              </a:rPr>
              <a:t>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87168"/>
            <a:ext cx="2359152" cy="2907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Manual intake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Slow triage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Duplicate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828800"/>
            <a:ext cx="2194560" cy="36576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1828800"/>
            <a:ext cx="21945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22192" y="1993392"/>
            <a:ext cx="402336" cy="40233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2" y="199339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1993392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AI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2487168"/>
            <a:ext cx="1810512" cy="2907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Analyze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Classify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Prioritize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Retrieve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Recommend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3291840"/>
            <a:ext cx="777240" cy="0"/>
          </a:xfrm>
          <a:prstGeom prst="bentConnector3">
            <a:avLst/>
          </a:prstGeom>
          <a:ln w="381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26480" y="1828800"/>
            <a:ext cx="5440680" cy="36576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828800"/>
            <a:ext cx="544068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91072" y="1993392"/>
            <a:ext cx="402336" cy="40233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99339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1993392"/>
            <a:ext cx="46177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NexDesk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487168"/>
            <a:ext cx="5056632" cy="2907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AI issue analysis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Auto classification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Smart recommendations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Similar-ticket detection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Faster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03 ·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2715768" cy="201168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715768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947672"/>
            <a:ext cx="402336" cy="40233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4767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947672"/>
            <a:ext cx="189280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Auto Issue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1783080"/>
            <a:ext cx="2715768" cy="201168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783080"/>
            <a:ext cx="2715768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66744" y="1947672"/>
            <a:ext cx="402336" cy="40233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194767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947672"/>
            <a:ext cx="189280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B82F6"/>
                </a:solidFill>
                <a:latin typeface="Calibri"/>
              </a:rPr>
              <a:t>Category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64224" y="1783080"/>
            <a:ext cx="2715768" cy="201168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1783080"/>
            <a:ext cx="2715768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28816" y="1947672"/>
            <a:ext cx="402336" cy="40233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194767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947672"/>
            <a:ext cx="189280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8B5CF6"/>
                </a:solidFill>
                <a:latin typeface="Calibri"/>
              </a:rPr>
              <a:t>Department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26296" y="1783080"/>
            <a:ext cx="2715768" cy="201168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6296" y="1783080"/>
            <a:ext cx="2715768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90888" y="1947672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194767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1947672"/>
            <a:ext cx="189280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Sentiment Priority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77640"/>
            <a:ext cx="2715768" cy="201168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977640"/>
            <a:ext cx="271576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" y="4142232"/>
            <a:ext cx="402336" cy="40233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14223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142232"/>
            <a:ext cx="189280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Root-Cause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02152" y="3977640"/>
            <a:ext cx="2715768" cy="201168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02152" y="3977640"/>
            <a:ext cx="2715768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66744" y="4142232"/>
            <a:ext cx="402336" cy="40233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66744" y="414223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808" y="4142232"/>
            <a:ext cx="189280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Similar-Ticket Detection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4224" y="3977640"/>
            <a:ext cx="2715768" cy="201168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64224" y="3977640"/>
            <a:ext cx="2715768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28816" y="4142232"/>
            <a:ext cx="402336" cy="40233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414223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142232"/>
            <a:ext cx="189280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B82F6"/>
                </a:solidFill>
                <a:latin typeface="Calibri"/>
              </a:rPr>
              <a:t>AI Troubleshooting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26296" y="3977640"/>
            <a:ext cx="2715768" cy="201168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26296" y="3977640"/>
            <a:ext cx="2715768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90888" y="4142232"/>
            <a:ext cx="402336" cy="40233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8" y="414223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2952" y="4142232"/>
            <a:ext cx="189280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8B5CF6"/>
                </a:solidFill>
                <a:latin typeface="Calibri"/>
              </a:rPr>
              <a:t>Smart Recommendations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4023360" cy="71323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71323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83080"/>
            <a:ext cx="3749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User /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03120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93A4BC"/>
                </a:solidFill>
                <a:latin typeface="Calibri"/>
              </a:rPr>
              <a:t>Employees + IT admins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.0" y="2450592"/>
            <a:ext cx="0.0" cy="146304"/>
          </a:xfrm>
          <a:prstGeom prst="bentConnector3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" y="2596896"/>
            <a:ext cx="4023360" cy="71323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96896"/>
            <a:ext cx="63500" cy="7132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642616"/>
            <a:ext cx="3749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962656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93A4BC"/>
                </a:solidFill>
                <a:latin typeface="Calibri"/>
              </a:rPr>
              <a:t>JWT · role-based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51760.0" y="3310128"/>
            <a:ext cx="0.0" cy="146304"/>
          </a:xfrm>
          <a:prstGeom prst="bentConnector3">
            <a:avLst/>
          </a:prstGeom>
          <a:ln w="2540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" y="3456432"/>
            <a:ext cx="4023360" cy="71323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56432"/>
            <a:ext cx="63500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502152"/>
            <a:ext cx="3749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React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822192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93A4BC"/>
                </a:solidFill>
                <a:latin typeface="Calibri"/>
              </a:rPr>
              <a:t>Dashboard · chat · tickets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51760.0" y="4169664"/>
            <a:ext cx="0.0" cy="146304"/>
          </a:xfrm>
          <a:prstGeom prst="bentConnector3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" y="4315968"/>
            <a:ext cx="4023360" cy="71323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315968"/>
            <a:ext cx="63500" cy="7132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361688"/>
            <a:ext cx="3749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FastAPI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681728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93A4BC"/>
                </a:solidFill>
                <a:latin typeface="Calibri"/>
              </a:rPr>
              <a:t>REST API · logic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51760.0" y="5029200"/>
            <a:ext cx="0.0" cy="146304"/>
          </a:xfrm>
          <a:prstGeom prst="bentConnector3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" y="5175504"/>
            <a:ext cx="4023360" cy="713232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175504"/>
            <a:ext cx="63500" cy="71323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221224"/>
            <a:ext cx="3749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541264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93A4BC"/>
                </a:solidFill>
                <a:latin typeface="Calibri"/>
              </a:rPr>
              <a:t>Classify · sentiment · similarity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17373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0728C"/>
                </a:solidFill>
                <a:latin typeface="Calibri"/>
              </a:rPr>
              <a:t>AI PIPELINE (per message)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103120"/>
            <a:ext cx="649224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0" y="2103120"/>
            <a:ext cx="63500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212080" y="2194560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2103120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 Issue Analysis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75320" y="2560320"/>
            <a:ext cx="0" cy="109728"/>
          </a:xfrm>
          <a:prstGeom prst="bentConnector3">
            <a:avLst/>
          </a:prstGeom>
          <a:ln w="2032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029200" y="2670048"/>
            <a:ext cx="649224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2670048"/>
            <a:ext cx="635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12080" y="2761488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2670048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2.  Category Detection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75320" y="3127248"/>
            <a:ext cx="0" cy="109728"/>
          </a:xfrm>
          <a:prstGeom prst="bentConnector3">
            <a:avLst/>
          </a:prstGeom>
          <a:ln w="2032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029200" y="3236976"/>
            <a:ext cx="649224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0" y="3236976"/>
            <a:ext cx="6350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212080" y="3328416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3560" y="3236976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 Department Detection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75320" y="3694176"/>
            <a:ext cx="0" cy="109728"/>
          </a:xfrm>
          <a:prstGeom prst="bentConnector3">
            <a:avLst/>
          </a:prstGeom>
          <a:ln w="2032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029200" y="3803904"/>
            <a:ext cx="649224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3803904"/>
            <a:ext cx="635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212080" y="389534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23560" y="3803904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 Priority Detection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75320" y="4261104"/>
            <a:ext cx="0" cy="109728"/>
          </a:xfrm>
          <a:prstGeom prst="bentConnector3">
            <a:avLst/>
          </a:prstGeom>
          <a:ln w="2032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029200" y="4370832"/>
            <a:ext cx="649224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0" y="4370832"/>
            <a:ext cx="63500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12080" y="4462272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23560" y="4370832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 Sentiment Analysis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275320" y="4828032"/>
            <a:ext cx="0" cy="109728"/>
          </a:xfrm>
          <a:prstGeom prst="bentConnector3">
            <a:avLst/>
          </a:prstGeom>
          <a:ln w="2032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029200" y="4937760"/>
            <a:ext cx="649224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4937760"/>
            <a:ext cx="63500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212080" y="5029200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23560" y="4937760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 Root-Cause Analysis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275320" y="5394960"/>
            <a:ext cx="0" cy="109728"/>
          </a:xfrm>
          <a:prstGeom prst="bentConnector3">
            <a:avLst/>
          </a:prstGeom>
          <a:ln w="2032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029200" y="5504688"/>
            <a:ext cx="649224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29200" y="5504688"/>
            <a:ext cx="635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212080" y="5596128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23560" y="5504688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7.  Similar-Ticket Detection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275320" y="5961888"/>
            <a:ext cx="0" cy="109728"/>
          </a:xfrm>
          <a:prstGeom prst="bentConnector3">
            <a:avLst/>
          </a:prstGeom>
          <a:ln w="2032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5029200" y="6071616"/>
            <a:ext cx="649224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29200" y="6071616"/>
            <a:ext cx="6350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212080" y="6163056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23560" y="6071616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8.  Database → Ticket Mgmt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05 ·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2194560" cy="40233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1945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29384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31720"/>
            <a:ext cx="1810512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React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Vite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Tailwind 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623560"/>
            <a:ext cx="21945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783080"/>
            <a:ext cx="2194560" cy="40233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9232" y="1783080"/>
            <a:ext cx="219456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929384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31720"/>
            <a:ext cx="1810512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FastAPI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SQLAlchemy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9232" y="5623560"/>
            <a:ext cx="21945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58384" y="1783080"/>
            <a:ext cx="2194560" cy="40233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58384" y="1783080"/>
            <a:ext cx="219456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1929384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8B5CF6"/>
                </a:solidFill>
                <a:latin typeface="Calibri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2331720"/>
            <a:ext cx="1810512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SQLite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58384" y="5623560"/>
            <a:ext cx="219456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17536" y="1783080"/>
            <a:ext cx="2194560" cy="40233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17536" y="1783080"/>
            <a:ext cx="21945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1929384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59E0B"/>
                </a:solidFill>
                <a:latin typeface="Calibri"/>
              </a:rP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4" y="2331720"/>
            <a:ext cx="1810512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JWT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17536" y="5623560"/>
            <a:ext cx="219456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76688" y="1783080"/>
            <a:ext cx="2194560" cy="40233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76688" y="1783080"/>
            <a:ext cx="219456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77856" y="1929384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AI Components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7856" y="2331720"/>
            <a:ext cx="1810512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Classification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Sentiment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Similar-Tickets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76688" y="5623560"/>
            <a:ext cx="219456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06 ·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User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Registration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User login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Admin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3A4BC"/>
                </a:solidFill>
                <a:latin typeface="Calibri"/>
              </a:rPr>
              <a:t>Visual: secure JWT auth with role selector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3566160" cy="265176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g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059935"/>
            <a:ext cx="3419856" cy="213741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3749039"/>
            <a:ext cx="3566160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767327"/>
            <a:ext cx="3291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3B82F6"/>
                </a:solidFill>
                <a:latin typeface="Calibri"/>
              </a:rPr>
              <a:t>●  Registration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749039"/>
            <a:ext cx="3566160" cy="265176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uth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4059935"/>
            <a:ext cx="3419856" cy="21374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434840" y="3749039"/>
            <a:ext cx="3566160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3767327"/>
            <a:ext cx="3291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3B82F6"/>
                </a:solidFill>
                <a:latin typeface="Calibri"/>
              </a:rPr>
              <a:t>●  Login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749039"/>
            <a:ext cx="3383280" cy="2651760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9319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0728C"/>
                </a:solidFill>
                <a:latin typeface="Calibri"/>
              </a:rPr>
              <a:t>ADMIN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38912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Admins select the Admin role,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authenticate via JWT, and gain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access to ticket management,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users, system health &amp; reports.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07 · USER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User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Total tickets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Open tickets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Pending tickets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Resolved tickets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Recent tickets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968496"/>
            <a:ext cx="3419856" cy="213741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657600"/>
            <a:ext cx="3566160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675888"/>
            <a:ext cx="3291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3B82F6"/>
                </a:solidFill>
                <a:latin typeface="Calibri"/>
              </a:rPr>
              <a:t>●  User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83080"/>
            <a:ext cx="7132320" cy="461772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ser_mytick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093976"/>
            <a:ext cx="6986016" cy="43662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34840" y="1783080"/>
            <a:ext cx="7132320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801368"/>
            <a:ext cx="685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3B82F6"/>
                </a:solidFill>
                <a:latin typeface="Calibri"/>
              </a:rPr>
              <a:t>●  My 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08 · CORE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AI Assistant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170432" cy="5486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170432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1704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10512" y="2103120.0"/>
            <a:ext cx="109728" cy="0.0"/>
          </a:xfrm>
          <a:prstGeom prst="bentConnector3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920240" y="1828800"/>
            <a:ext cx="1170432" cy="5486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1828800"/>
            <a:ext cx="1170432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1847088"/>
            <a:ext cx="11704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90672" y="2103120.0"/>
            <a:ext cx="109728" cy="0.0"/>
          </a:xfrm>
          <a:prstGeom prst="bentConnector3">
            <a:avLst/>
          </a:prstGeom>
          <a:ln w="2540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00400" y="1828800"/>
            <a:ext cx="1170432" cy="5486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828800"/>
            <a:ext cx="117043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847088"/>
            <a:ext cx="11704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Department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70832" y="2103120.0"/>
            <a:ext cx="109728" cy="0.0"/>
          </a:xfrm>
          <a:prstGeom prst="bentConnector3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480560" y="1828800"/>
            <a:ext cx="1170432" cy="5486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1828800"/>
            <a:ext cx="1170432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847088"/>
            <a:ext cx="11704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50992" y="2103120.0"/>
            <a:ext cx="109728" cy="0.0"/>
          </a:xfrm>
          <a:prstGeom prst="bentConnector3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760720" y="1828800"/>
            <a:ext cx="1170432" cy="5486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1828800"/>
            <a:ext cx="1170432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1847088"/>
            <a:ext cx="11704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Sentiment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31152" y="2103120.0"/>
            <a:ext cx="109728" cy="0.0"/>
          </a:xfrm>
          <a:prstGeom prst="bentConnector3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040880" y="1828800"/>
            <a:ext cx="1170432" cy="5486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1828800"/>
            <a:ext cx="1170432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1847088"/>
            <a:ext cx="11704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11312" y="2103120.0"/>
            <a:ext cx="109728" cy="0.0"/>
          </a:xfrm>
          <a:prstGeom prst="bentConnector3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321040" y="1828800"/>
            <a:ext cx="1170432" cy="5486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1828800"/>
            <a:ext cx="1170432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1847088"/>
            <a:ext cx="11704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Recommended Resolution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91472" y="2103120.0"/>
            <a:ext cx="109728" cy="0.0"/>
          </a:xfrm>
          <a:prstGeom prst="bentConnector3">
            <a:avLst/>
          </a:prstGeom>
          <a:ln w="2540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601200" y="1828800"/>
            <a:ext cx="1170432" cy="5486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828800"/>
            <a:ext cx="117043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1847088"/>
            <a:ext cx="11704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Similar Tickets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771632" y="2103120.0"/>
            <a:ext cx="109728" cy="0.0"/>
          </a:xfrm>
          <a:prstGeom prst="bentConnector3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0881360" y="1828800"/>
            <a:ext cx="1170432" cy="5486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881360" y="1828800"/>
            <a:ext cx="1170432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81360" y="1847088"/>
            <a:ext cx="11704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Create Ticket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2560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3A4BC"/>
                </a:solidFill>
                <a:latin typeface="Calibri"/>
              </a:rPr>
              <a:t>Each stage auto-enriches the ticket; output builds the draft the user confirms.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3017520"/>
            <a:ext cx="10881360" cy="338328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ai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328416"/>
            <a:ext cx="10735056" cy="670941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40080" y="3017520"/>
            <a:ext cx="10881360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3035808"/>
            <a:ext cx="10607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34D399"/>
                </a:solidFill>
                <a:latin typeface="Calibri"/>
              </a:rPr>
              <a:t>●  AI Assistant — live conversation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09 ·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AI Analysis — Worked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Category detection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Department detection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Sentiment analysis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Priority assignment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Root-cause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23360"/>
            <a:ext cx="4206240" cy="310896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63500" cy="3108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VPN Not Working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4334256"/>
            <a:ext cx="0" cy="91440"/>
          </a:xfrm>
          <a:prstGeom prst="bentConnector3">
            <a:avLst/>
          </a:prstGeom>
          <a:ln w="2032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" y="4434840"/>
            <a:ext cx="4206240" cy="310896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34840"/>
            <a:ext cx="63500" cy="3108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Category: Network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97480" y="4745736"/>
            <a:ext cx="0" cy="91440"/>
          </a:xfrm>
          <a:prstGeom prst="bentConnector3">
            <a:avLst/>
          </a:prstGeom>
          <a:ln w="2032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0080" y="4846320"/>
            <a:ext cx="4206240" cy="310896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846320"/>
            <a:ext cx="63500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Department: IT Support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5157216"/>
            <a:ext cx="0" cy="91440"/>
          </a:xfrm>
          <a:prstGeom prst="bentConnector3">
            <a:avLst/>
          </a:prstGeom>
          <a:ln w="2032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" y="5257800"/>
            <a:ext cx="4206240" cy="310896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257800"/>
            <a:ext cx="6350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5780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Priority: High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97480" y="5568696"/>
            <a:ext cx="0" cy="91440"/>
          </a:xfrm>
          <a:prstGeom prst="bentConnector3">
            <a:avLst/>
          </a:prstGeom>
          <a:ln w="2032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" y="5669280"/>
            <a:ext cx="4206240" cy="310896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669280"/>
            <a:ext cx="63500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66928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Sentiment: Negative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97480" y="5980176"/>
            <a:ext cx="0" cy="91440"/>
          </a:xfrm>
          <a:prstGeom prst="bentConnector3">
            <a:avLst/>
          </a:prstGeom>
          <a:ln w="2032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80" y="6080760"/>
            <a:ext cx="4206240" cy="310896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6080760"/>
            <a:ext cx="63500" cy="3108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608076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Root Cause: VPN config failure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97480" y="6391656"/>
            <a:ext cx="0" cy="91440"/>
          </a:xfrm>
          <a:prstGeom prst="bentConnector3">
            <a:avLst/>
          </a:prstGeom>
          <a:ln w="2032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0080" y="6492240"/>
            <a:ext cx="4206240" cy="310896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6492240"/>
            <a:ext cx="63500" cy="3108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6492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AI Confidence: 95%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0" y="1783080"/>
            <a:ext cx="6400800" cy="452628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i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2093976"/>
            <a:ext cx="6254496" cy="390906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212080" y="1783080"/>
            <a:ext cx="6400800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76672" y="1801368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34D399"/>
                </a:solidFill>
                <a:latin typeface="Calibri"/>
              </a:rPr>
              <a:t>●  AI Engine — analysis panel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10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AI Resolution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468880" cy="1280160"/>
          </a:xfrm>
          <a:prstGeom prst="roundRect">
            <a:avLst>
              <a:gd name="adj" fmla="val 4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4688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1. Basic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3A4BC"/>
                </a:solidFill>
                <a:latin typeface="Calibri"/>
              </a:rPr>
              <a:t>Guided step in the resolution flow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468880"/>
            <a:ext cx="228600" cy="0"/>
          </a:xfrm>
          <a:prstGeom prst="bentConnector3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37560" y="1828800"/>
            <a:ext cx="2468880" cy="1280160"/>
          </a:xfrm>
          <a:prstGeom prst="roundRect">
            <a:avLst>
              <a:gd name="adj" fmla="val 4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99339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2. Troubleshooting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4688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3A4BC"/>
                </a:solidFill>
                <a:latin typeface="Calibri"/>
              </a:rPr>
              <a:t>Guided step in the resolution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37560"/>
            <a:ext cx="2468880" cy="1280160"/>
          </a:xfrm>
          <a:prstGeom prst="roundRect">
            <a:avLst>
              <a:gd name="adj" fmla="val 4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50215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3. Configuration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97764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3A4BC"/>
                </a:solidFill>
                <a:latin typeface="Calibri"/>
              </a:rPr>
              <a:t>Guided step in the resolution 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3977640"/>
            <a:ext cx="228600" cy="0"/>
          </a:xfrm>
          <a:prstGeom prst="bentConnector3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37560" y="3337560"/>
            <a:ext cx="2468880" cy="1280160"/>
          </a:xfrm>
          <a:prstGeom prst="roundRect">
            <a:avLst>
              <a:gd name="adj" fmla="val 4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333756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350215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4.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397764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3A4BC"/>
                </a:solidFill>
                <a:latin typeface="Calibri"/>
              </a:rPr>
              <a:t>Guided step in the resolution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46320"/>
            <a:ext cx="2468880" cy="1280160"/>
          </a:xfrm>
          <a:prstGeom prst="roundRect">
            <a:avLst>
              <a:gd name="adj" fmla="val 4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46320"/>
            <a:ext cx="246888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01091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5. Information Collection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48640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3A4BC"/>
                </a:solidFill>
                <a:latin typeface="Calibri"/>
              </a:rPr>
              <a:t>Guided step in the resolution flow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08960" y="5486400"/>
            <a:ext cx="228600" cy="0"/>
          </a:xfrm>
          <a:prstGeom prst="bentConnector3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337560" y="4846320"/>
            <a:ext cx="2468880" cy="1280160"/>
          </a:xfrm>
          <a:prstGeom prst="roundRect">
            <a:avLst>
              <a:gd name="adj" fmla="val 4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4846320"/>
            <a:ext cx="24688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38728" y="501091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6. Escalation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8728" y="548640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3A4BC"/>
                </a:solidFill>
                <a:latin typeface="Calibri"/>
              </a:rPr>
              <a:t>Guided step in the resolution 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6355080"/>
            <a:ext cx="2468880" cy="1280160"/>
          </a:xfrm>
          <a:prstGeom prst="roundRect">
            <a:avLst>
              <a:gd name="adj" fmla="val 4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635508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651967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7. Similar Tickets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9951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3A4BC"/>
                </a:solidFill>
                <a:latin typeface="Calibri"/>
              </a:rPr>
              <a:t>Guided step in the resolution flow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1783080"/>
            <a:ext cx="5486400" cy="452628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i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2093976"/>
            <a:ext cx="5340096" cy="333756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126480" y="1783080"/>
            <a:ext cx="5486400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1801368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34D399"/>
                </a:solidFill>
                <a:latin typeface="Calibri"/>
              </a:rPr>
              <a:t>●  AI-Generated 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11 · KNOWLEDGE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Similar Tickets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572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Faster troubleshooting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Knowledge reuse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Reduced duplicate tickets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4389120" cy="54864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63500" cy="548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⧉  VPN Not Working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58768"/>
            <a:ext cx="4389120" cy="54864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58768"/>
            <a:ext cx="63500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58768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⧉  Server 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17136"/>
            <a:ext cx="4389120" cy="54864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517136"/>
            <a:ext cx="63500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17136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⧉  Email Not Working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75504"/>
            <a:ext cx="4389120" cy="54864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175504"/>
            <a:ext cx="6350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75504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⧉  Login Problems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783080"/>
            <a:ext cx="6126480" cy="452628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uth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2093976"/>
            <a:ext cx="5980176" cy="373761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486400" y="1783080"/>
            <a:ext cx="6126480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1801368"/>
            <a:ext cx="5852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8B5CF6"/>
                </a:solidFill>
                <a:latin typeface="Calibri"/>
              </a:rPr>
              <a:t>●  Similar Tickets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12 ·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AI-Assisted Ticket Creation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AI automatically fills: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4389120" cy="73152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48640" cy="7315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Category  →  auto-filled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4389120" cy="73152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63240"/>
            <a:ext cx="548640" cy="7315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06324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Department  →  auto-filled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4389120" cy="73152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548640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93192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Priority  →  auto-filled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0728C"/>
                </a:solidFill>
                <a:latin typeface="Calibri"/>
              </a:rPr>
              <a:t>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20640"/>
            <a:ext cx="1691640" cy="64008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120640"/>
            <a:ext cx="16916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1691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5440680"/>
            <a:ext cx="320040" cy="0"/>
          </a:xfrm>
          <a:prstGeom prst="bentConnector3">
            <a:avLst/>
          </a:prstGeom>
          <a:ln w="3175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651760" y="5120640"/>
            <a:ext cx="1691640" cy="64008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51760" y="5120640"/>
            <a:ext cx="1691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5120640"/>
            <a:ext cx="1691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AI Analysis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43400" y="5440680"/>
            <a:ext cx="320040" cy="0"/>
          </a:xfrm>
          <a:prstGeom prst="bentConnector3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63440" y="5120640"/>
            <a:ext cx="1691640" cy="64008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5120640"/>
            <a:ext cx="16916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5120640"/>
            <a:ext cx="1691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Ticket Creation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783080"/>
            <a:ext cx="6126480" cy="452628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uth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2093976"/>
            <a:ext cx="5980176" cy="373761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486400" y="1783080"/>
            <a:ext cx="6126480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0992" y="1801368"/>
            <a:ext cx="5852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3B82F6"/>
                </a:solidFill>
                <a:latin typeface="Calibri"/>
              </a:rPr>
              <a:t>●  Create Ticket 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13 ·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743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Ticket monitoring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Ticket statistics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Recent tickets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737360" cy="1097280"/>
          </a:xfrm>
          <a:prstGeom prst="roundRect">
            <a:avLst>
              <a:gd name="adj" fmla="val 6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63500" cy="10972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4164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2DD4BF"/>
                </a:solidFill>
                <a:latin typeface="Calibri"/>
              </a:rPr>
              <a:t>128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4515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93A4BC"/>
                </a:solidFill>
                <a:latin typeface="Calibri"/>
              </a:rPr>
              <a:t>Open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931920"/>
            <a:ext cx="1737360" cy="1097280"/>
          </a:xfrm>
          <a:prstGeom prst="roundRect">
            <a:avLst>
              <a:gd name="adj" fmla="val 6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3931920"/>
            <a:ext cx="63500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404164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F59E0B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64515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93A4BC"/>
                </a:solidFill>
                <a:latin typeface="Calibri"/>
              </a:rP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1737360" cy="1097280"/>
          </a:xfrm>
          <a:prstGeom prst="roundRect">
            <a:avLst>
              <a:gd name="adj" fmla="val 6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212080"/>
            <a:ext cx="63500" cy="10972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2180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34D399"/>
                </a:solidFill>
                <a:latin typeface="Calibri"/>
              </a:rPr>
              <a:t>642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2531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93A4BC"/>
                </a:solidFill>
                <a:latin typeface="Calibri"/>
              </a:rPr>
              <a:t>Resolved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5212080"/>
            <a:ext cx="1737360" cy="1097280"/>
          </a:xfrm>
          <a:prstGeom prst="roundRect">
            <a:avLst>
              <a:gd name="adj" fmla="val 6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0" y="5212080"/>
            <a:ext cx="63500" cy="10972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532180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3B82F6"/>
                </a:solidFill>
                <a:latin typeface="Calibri"/>
              </a:rPr>
              <a:t>3.2h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92531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93A4BC"/>
                </a:solidFill>
                <a:latin typeface="Calibri"/>
              </a:rPr>
              <a:t>Avg SLA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1783080"/>
            <a:ext cx="7955279" cy="452628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93976"/>
            <a:ext cx="7808975" cy="488060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657600" y="1783080"/>
            <a:ext cx="7955279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2" y="1801368"/>
            <a:ext cx="768095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●  Admin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14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Ticket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783080" cy="118872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7830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1.  Ticket Created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423160"/>
            <a:ext cx="182880" cy="0"/>
          </a:xfrm>
          <a:prstGeom prst="bentConnector3">
            <a:avLst/>
          </a:prstGeom>
          <a:ln w="3175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06040" y="1828800"/>
            <a:ext cx="1783080" cy="118872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828800"/>
            <a:ext cx="178308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05740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2.  AI Analysis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89120" y="2423160"/>
            <a:ext cx="182880" cy="0"/>
          </a:xfrm>
          <a:prstGeom prst="bentConnector3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1828800"/>
            <a:ext cx="1783080" cy="118872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828800"/>
            <a:ext cx="178308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05740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3.  Admin Review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80" y="2423160"/>
            <a:ext cx="182880" cy="0"/>
          </a:xfrm>
          <a:prstGeom prst="bentConnector3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3291840"/>
            <a:ext cx="1783080" cy="118872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91840"/>
            <a:ext cx="178308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4.  Assignment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06040" y="3291840"/>
            <a:ext cx="1783080" cy="118872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6040" y="3291840"/>
            <a:ext cx="178308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352044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5.  Status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291840"/>
            <a:ext cx="1783080" cy="118872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291840"/>
            <a:ext cx="17830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52044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6.  Resolution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46320"/>
            <a:ext cx="10881360" cy="1600200"/>
          </a:xfrm>
          <a:prstGeom prst="roundRect">
            <a:avLst>
              <a:gd name="adj" fmla="val 2000"/>
            </a:avLst>
          </a:prstGeom>
          <a:solidFill>
            <a:srgbClr val="1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uth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157216"/>
            <a:ext cx="10735056" cy="670941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40080" y="4846320"/>
            <a:ext cx="10881360" cy="310896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864608"/>
            <a:ext cx="10607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●  Ticket Management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15 · 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2062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394960" cy="50800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947672"/>
            <a:ext cx="402336" cy="402336"/>
          </a:xfrm>
          <a:prstGeom prst="ellipse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4767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947672"/>
            <a:ext cx="4572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86B6B"/>
                </a:solidFill>
                <a:latin typeface="Calibri"/>
              </a:rPr>
              <a:t>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41448"/>
            <a:ext cx="5010912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Category not loading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Department not loading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Priority not loading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Assignment issues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Auth errors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Dashboard sync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5349240" cy="420624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534924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947672"/>
            <a:ext cx="402336" cy="40233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4767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1947672"/>
            <a:ext cx="45262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34D399"/>
                </a:solidFill>
                <a:latin typeface="Calibri"/>
              </a:rPr>
              <a:t>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441448"/>
            <a:ext cx="4965192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AI-based classification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Department mapping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DB synchronization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API integration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Role-based filtering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Real-time 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72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Before → After:  empty fields → auto-filled · manual triage → AI-assisted · sync lag → 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16 · VALUE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Impact &amp; 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201168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3949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947672"/>
            <a:ext cx="402336" cy="40233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4767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947672"/>
            <a:ext cx="4572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41448"/>
            <a:ext cx="5010912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Faster support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Reduced manual 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Better prioritization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Improved 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5394960" cy="20574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5394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4096512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9651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A0F1C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096512"/>
            <a:ext cx="4572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59E0B"/>
                </a:solidFill>
                <a:latin typeface="Calibri"/>
              </a:rPr>
              <a:t>Future Enhancements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590288"/>
            <a:ext cx="5010912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RAG integration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Voice-based ticket creation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Email notifications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Knowledge-base link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Advanced AI models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6EDF5"/>
                </a:solidFill>
                <a:latin typeface="Calibri"/>
              </a:rPr>
              <a:t>•  Multilingual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5257800" cy="4160520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0728C"/>
                </a:solidFill>
                <a:latin typeface="Calibri"/>
              </a:rPr>
              <a:t>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560320"/>
            <a:ext cx="4846320" cy="38100"/>
          </a:xfrm>
          <a:prstGeom prst="rect">
            <a:avLst/>
          </a:prstGeom>
          <a:solidFill>
            <a:srgbClr val="93A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12864" y="2468880"/>
            <a:ext cx="219456" cy="21945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2834640"/>
            <a:ext cx="1645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Q1</a:t>
            </a:r>
          </a:p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100" b="0" i="0">
                <a:solidFill>
                  <a:srgbClr val="E6EDF5"/>
                </a:solidFill>
                <a:latin typeface="Calibri"/>
              </a:rPr>
              <a:t>RAG + KB</a:t>
            </a:r>
          </a:p>
        </p:txBody>
      </p:sp>
      <p:sp>
        <p:nvSpPr>
          <p:cNvPr id="24" name="Oval 23"/>
          <p:cNvSpPr/>
          <p:nvPr/>
        </p:nvSpPr>
        <p:spPr>
          <a:xfrm>
            <a:off x="7882128" y="2468880"/>
            <a:ext cx="219456" cy="21945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68896" y="2834640"/>
            <a:ext cx="1645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B82F6"/>
                </a:solidFill>
                <a:latin typeface="Calibri"/>
              </a:rPr>
              <a:t>Q2</a:t>
            </a:r>
          </a:p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100" b="0" i="0">
                <a:solidFill>
                  <a:srgbClr val="E6EDF5"/>
                </a:solidFill>
                <a:latin typeface="Calibri"/>
              </a:rPr>
              <a:t>Voice intake</a:t>
            </a:r>
          </a:p>
        </p:txBody>
      </p:sp>
      <p:sp>
        <p:nvSpPr>
          <p:cNvPr id="26" name="Oval 25"/>
          <p:cNvSpPr/>
          <p:nvPr/>
        </p:nvSpPr>
        <p:spPr>
          <a:xfrm>
            <a:off x="8851392" y="2468880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834640"/>
            <a:ext cx="1645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8B5CF6"/>
                </a:solidFill>
                <a:latin typeface="Calibri"/>
              </a:rPr>
              <a:t>Q3</a:t>
            </a:r>
          </a:p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100" b="0" i="0">
                <a:solidFill>
                  <a:srgbClr val="E6EDF5"/>
                </a:solidFill>
                <a:latin typeface="Calibri"/>
              </a:rPr>
              <a:t>Email alerts</a:t>
            </a:r>
          </a:p>
        </p:txBody>
      </p:sp>
      <p:sp>
        <p:nvSpPr>
          <p:cNvPr id="28" name="Oval 27"/>
          <p:cNvSpPr/>
          <p:nvPr/>
        </p:nvSpPr>
        <p:spPr>
          <a:xfrm>
            <a:off x="9820656" y="246888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424" y="2834640"/>
            <a:ext cx="1645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Q4</a:t>
            </a:r>
          </a:p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100" b="0" i="0">
                <a:solidFill>
                  <a:srgbClr val="E6EDF5"/>
                </a:solidFill>
                <a:latin typeface="Calibri"/>
              </a:rPr>
              <a:t>Advanced LLM</a:t>
            </a:r>
          </a:p>
        </p:txBody>
      </p:sp>
      <p:sp>
        <p:nvSpPr>
          <p:cNvPr id="30" name="Oval 29"/>
          <p:cNvSpPr/>
          <p:nvPr/>
        </p:nvSpPr>
        <p:spPr>
          <a:xfrm>
            <a:off x="10789920" y="2468880"/>
            <a:ext cx="219456" cy="21945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688" y="2834640"/>
            <a:ext cx="1645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Q5</a:t>
            </a:r>
          </a:p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100" b="0" i="0">
                <a:solidFill>
                  <a:srgbClr val="E6EDF5"/>
                </a:solidFill>
                <a:latin typeface="Calibri"/>
              </a:rPr>
              <a:t>Multilingual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0728C"/>
                </a:solidFill>
                <a:latin typeface="Calibri"/>
              </a:rPr>
              <a:t>NexDesk · AI-Based IT Ticket Management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0728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74519"/>
            <a:ext cx="27432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NexDesk transforms traditional IT support into an AI-driven intelligent helpdesk.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6583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E6EDF5"/>
                </a:solidFill>
                <a:latin typeface="Calibri"/>
              </a:rPr>
              <a:t>▪  AI improves ticket analysis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E6EDF5"/>
                </a:solidFill>
                <a:latin typeface="Calibri"/>
              </a:rPr>
              <a:t>▪  AI improves troubleshooting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E6EDF5"/>
                </a:solidFill>
                <a:latin typeface="Calibri"/>
              </a:rPr>
              <a:t>▪  AI reduces duplicate tickets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E6EDF5"/>
                </a:solidFill>
                <a:latin typeface="Calibri"/>
              </a:rPr>
              <a:t>▪  AI improves ticket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77440"/>
            <a:ext cx="3749039" cy="3017520"/>
          </a:xfrm>
          <a:prstGeom prst="roundRect">
            <a:avLst>
              <a:gd name="adj" fmla="val 2000"/>
            </a:avLst>
          </a:prstGeom>
          <a:solidFill>
            <a:srgbClr val="10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60604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200" b="1" i="0">
                <a:solidFill>
                  <a:srgbClr val="2DD4BF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42900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Questions?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NexDesk — AI-Based IT Ticket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Management System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1150" b="0" i="0">
                <a:solidFill>
                  <a:srgbClr val="93A4BC"/>
                </a:solidFill>
                <a:latin typeface="Calibri"/>
              </a:rPr>
              <a:t>AI Engineering Intern · Project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93A4BC"/>
                </a:solidFill>
                <a:latin typeface="Calibri"/>
              </a:rPr>
              <a:t>Demo:  http://localhost:5173   ·   API docs: 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