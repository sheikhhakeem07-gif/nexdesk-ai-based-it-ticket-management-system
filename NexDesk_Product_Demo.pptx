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600" b="1" i="0">
                <a:solidFill>
                  <a:srgbClr val="FFFFFF"/>
                </a:solidFill>
                <a:latin typeface="Calibri"/>
              </a:rPr>
              <a:t>NexDesk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2400" b="0" i="0">
                <a:solidFill>
                  <a:srgbClr val="2DD4BF"/>
                </a:solidFill>
                <a:latin typeface="Calibri"/>
              </a:rPr>
              <a:t>AI-Based IT Ticket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697480"/>
            <a:ext cx="27432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An AI-powered IT helpdesk that analyzes technical issues, recommends solutions,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detects similar tickets, and helps admins manage support requests more efficiently.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664208" cy="457200"/>
          </a:xfrm>
          <a:prstGeom prst="roundRect">
            <a:avLst>
              <a:gd name="adj" fmla="val 40000"/>
            </a:avLst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6642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Issue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4114800"/>
            <a:ext cx="2240280" cy="457200"/>
          </a:xfrm>
          <a:prstGeom prst="roundRect">
            <a:avLst>
              <a:gd name="adj" fmla="val 40000"/>
            </a:avLst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411480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Smart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4114800"/>
            <a:ext cx="2624328" cy="457200"/>
          </a:xfrm>
          <a:prstGeom prst="roundRect">
            <a:avLst>
              <a:gd name="adj" fmla="val 40000"/>
            </a:avLst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4114800"/>
            <a:ext cx="26243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Similar-Ticket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4114800"/>
            <a:ext cx="2048256" cy="457200"/>
          </a:xfrm>
          <a:prstGeom prst="roundRect">
            <a:avLst>
              <a:gd name="adj" fmla="val 40000"/>
            </a:avLst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416" y="4114800"/>
            <a:ext cx="20482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AI Recommendations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371600"/>
            <a:ext cx="3840480" cy="448056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5544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VISUAL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65960"/>
            <a:ext cx="3383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Dashboard hero illustration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AI / neural icon motif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IT support illustration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Product wordmark lockup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Product Demo · Prepared for Engineering Mentor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86B6B"/>
                </a:solidFill>
                <a:latin typeface="Calibri"/>
              </a:rPr>
              <a:t>Traditional IT support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Manual ticket classification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Incorrect ticket prioritization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Slow issue resolution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Repeated troubleshooting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Duplicate tickets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No intelligent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440680" cy="411480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Traditional  vs  AI-Based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46888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496312"/>
            <a:ext cx="1371600" cy="365760"/>
          </a:xfrm>
          <a:prstGeom prst="rect">
            <a:avLst/>
          </a:prstGeom>
          <a:solidFill>
            <a:srgbClr val="33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496312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F86B6B"/>
                </a:solidFill>
                <a:latin typeface="Calibri"/>
              </a:rPr>
              <a:t>Manual / slow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2679192"/>
            <a:ext cx="32004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738360" y="2496312"/>
            <a:ext cx="169164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2496312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34D399"/>
                </a:solidFill>
                <a:latin typeface="Calibri"/>
              </a:rPr>
              <a:t>Auto / instant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73552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3300984"/>
            <a:ext cx="1371600" cy="365760"/>
          </a:xfrm>
          <a:prstGeom prst="rect">
            <a:avLst/>
          </a:prstGeom>
          <a:solidFill>
            <a:srgbClr val="33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300984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F86B6B"/>
                </a:solidFill>
                <a:latin typeface="Calibri"/>
              </a:rPr>
              <a:t>Guesswork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72600" y="3483864"/>
            <a:ext cx="32004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738360" y="3300984"/>
            <a:ext cx="169164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3300984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34D399"/>
                </a:solidFill>
                <a:latin typeface="Calibri"/>
              </a:rPr>
              <a:t>Sentiment-aware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7822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Duplicates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4105656"/>
            <a:ext cx="1371600" cy="365760"/>
          </a:xfrm>
          <a:prstGeom prst="rect">
            <a:avLst/>
          </a:prstGeom>
          <a:solidFill>
            <a:srgbClr val="33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105656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F86B6B"/>
                </a:solidFill>
                <a:latin typeface="Calibri"/>
              </a:rPr>
              <a:t>Common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72600" y="4288536"/>
            <a:ext cx="32004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738360" y="4105656"/>
            <a:ext cx="169164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4105656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34D399"/>
                </a:solidFill>
                <a:latin typeface="Calibri"/>
              </a:rPr>
              <a:t>Detected &amp; merged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82896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6EDF5"/>
                </a:solidFill>
                <a:latin typeface="Calibri"/>
              </a:rPr>
              <a:t>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910328"/>
            <a:ext cx="1371600" cy="365760"/>
          </a:xfrm>
          <a:prstGeom prst="rect">
            <a:avLst/>
          </a:prstGeom>
          <a:solidFill>
            <a:srgbClr val="33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910328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F86B6B"/>
                </a:solidFill>
                <a:latin typeface="Calibri"/>
              </a:rPr>
              <a:t>Repeated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72600" y="5093208"/>
            <a:ext cx="32004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738360" y="4910328"/>
            <a:ext cx="1691640" cy="365760"/>
          </a:xfrm>
          <a:prstGeom prst="rect">
            <a:avLst/>
          </a:prstGeom>
          <a:solidFill>
            <a:srgbClr val="14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4910328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34D399"/>
                </a:solidFill>
                <a:latin typeface="Calibri"/>
              </a:rPr>
              <a:t>Reuse past fixes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02 ·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Why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5661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476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Faster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35661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9476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Better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35661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8795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alibri"/>
              </a:rPr>
              <a:t>Reduced manual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4023360"/>
            <a:ext cx="35661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18795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Intelligent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6364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6263640"/>
            <a:ext cx="356616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64282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Reuse of previous solutions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783080"/>
            <a:ext cx="3611880" cy="411480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690"/>
                </a:solidFill>
                <a:latin typeface="Calibri"/>
              </a:rPr>
              <a:t>AI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331720"/>
            <a:ext cx="3154680" cy="65836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33172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Ticket / message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56648" y="2990088"/>
            <a:ext cx="0" cy="146304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83879" y="3136392"/>
            <a:ext cx="3154680" cy="65836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136392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NLP + classification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56648" y="3794760"/>
            <a:ext cx="0" cy="146304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3941064"/>
            <a:ext cx="3154680" cy="65836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941064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Priority + sentiment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56648" y="4599432"/>
            <a:ext cx="0" cy="146304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83879" y="4745736"/>
            <a:ext cx="3154680" cy="65836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745736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Recommend 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03 ·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715768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476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4767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DD4BF"/>
                </a:solidFill>
                <a:latin typeface="Calibri"/>
              </a:rPr>
              <a:t>Auto Issue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2152" y="178308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783080"/>
            <a:ext cx="2715768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66744" y="194767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94767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3B82F6"/>
                </a:solidFill>
                <a:latin typeface="Calibri"/>
              </a:rPr>
              <a:t>Auto Category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4224" y="178308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1783080"/>
            <a:ext cx="2715768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19476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194767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8B5CF6"/>
                </a:solidFill>
                <a:latin typeface="Calibri"/>
              </a:rPr>
              <a:t>Auto Department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26296" y="178308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1783080"/>
            <a:ext cx="2715768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90888" y="194767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194767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59E0B"/>
                </a:solidFill>
                <a:latin typeface="Calibri"/>
              </a:rPr>
              <a:t>Sentiment-Based Priority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7764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977640"/>
            <a:ext cx="271576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" y="4142232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1422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14223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34D399"/>
                </a:solidFill>
                <a:latin typeface="Calibri"/>
              </a:rPr>
              <a:t>Root Cause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2152" y="397764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02152" y="3977640"/>
            <a:ext cx="2715768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66744" y="414223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66744" y="41422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14223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DD4BF"/>
                </a:solidFill>
                <a:latin typeface="Calibri"/>
              </a:rPr>
              <a:t>Similar Ticket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397764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64224" y="3977640"/>
            <a:ext cx="2715768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28816" y="414223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1422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14223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3B82F6"/>
                </a:solidFill>
                <a:latin typeface="Calibri"/>
              </a:rPr>
              <a:t>AI-Assisted Troubleshooting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26296" y="3977640"/>
            <a:ext cx="2715768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26296" y="3977640"/>
            <a:ext cx="2715768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90888" y="414223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41422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4664" y="4142232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8B5CF6"/>
                </a:solidFill>
                <a:latin typeface="Calibri"/>
              </a:rPr>
              <a:t>Smart Recommendations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User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Employees &amp; IT admins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.0" y="2350008"/>
            <a:ext cx="0.0" cy="146304"/>
          </a:xfrm>
          <a:prstGeom prst="bentConnector3">
            <a:avLst/>
          </a:prstGeom>
          <a:ln w="3175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2496312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635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96312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70632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JWT login · role-based access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.0" y="3063240"/>
            <a:ext cx="0.0" cy="146304"/>
          </a:xfrm>
          <a:prstGeom prst="bentConnector3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209544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09544"/>
            <a:ext cx="63500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09544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Frontend (React + Vite)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8386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Dashboard · AI chat · tickets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4720.0" y="3776472"/>
            <a:ext cx="0.0" cy="146304"/>
          </a:xfrm>
          <a:prstGeom prst="bentConnector3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3922776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22776"/>
            <a:ext cx="635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22776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Backend (FastAPI)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97096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REST API · business logic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.0" y="4489704"/>
            <a:ext cx="0.0" cy="146304"/>
          </a:xfrm>
          <a:prstGeom prst="bentConnector3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" y="4636008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636008"/>
            <a:ext cx="635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36008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1032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Classification · sentiment · similarity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74720.0" y="5202936"/>
            <a:ext cx="0.0" cy="146304"/>
          </a:xfrm>
          <a:prstGeom prst="bentConnector3">
            <a:avLst/>
          </a:prstGeom>
          <a:ln w="317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" y="5349240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349240"/>
            <a:ext cx="63500" cy="5669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Database (SQLite)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2356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Tickets · users · history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74720.0" y="5916168"/>
            <a:ext cx="0.0" cy="146304"/>
          </a:xfrm>
          <a:prstGeom prst="bentConnector3">
            <a:avLst/>
          </a:prstGeom>
          <a:ln w="3175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0080" y="6062472"/>
            <a:ext cx="5669280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6062472"/>
            <a:ext cx="635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6062472"/>
            <a:ext cx="5303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Ticket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336792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Assign · resolve · 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1783080"/>
            <a:ext cx="4892040" cy="420624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690"/>
                </a:solidFill>
                <a:latin typeface="Calibri"/>
              </a:rPr>
              <a:t>REQUEST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2377440"/>
            <a:ext cx="4526280" cy="7772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0" y="2377440"/>
            <a:ext cx="4526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22592" y="2473452"/>
            <a:ext cx="585216" cy="5852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22592" y="2473452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2487168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80" y="2926080"/>
            <a:ext cx="3520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Auth → Frontend → Backend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273552"/>
            <a:ext cx="4526280" cy="7772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58000" y="3273552"/>
            <a:ext cx="4526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22592" y="3369564"/>
            <a:ext cx="585216" cy="5852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336956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80" y="33832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80" y="3822192"/>
            <a:ext cx="3520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AI engine scores category / priority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169664"/>
            <a:ext cx="4526280" cy="7772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0" y="4169664"/>
            <a:ext cx="4526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022592" y="4265676"/>
            <a:ext cx="585216" cy="5852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22592" y="4265676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80" y="4279392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Persist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80" y="4718304"/>
            <a:ext cx="3520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Write to SQLite, return ticket 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5065776"/>
            <a:ext cx="4526280" cy="7772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58000" y="5065776"/>
            <a:ext cx="4526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22592" y="5161788"/>
            <a:ext cx="585216" cy="5852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22592" y="5161788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6680" y="5175504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5614416"/>
            <a:ext cx="3520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SSE pushes live updates to client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05 ·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194560" cy="402336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1945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476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04872"/>
            <a:ext cx="181051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React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Vite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Tailwind 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05272"/>
            <a:ext cx="219456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783080"/>
            <a:ext cx="2194560" cy="402336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1783080"/>
            <a:ext cx="21945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9476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04872"/>
            <a:ext cx="181051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FastAPI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SQLAlchemy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9232" y="5605272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58384" y="1783080"/>
            <a:ext cx="2194560" cy="402336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58384" y="1783080"/>
            <a:ext cx="21945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19476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alibr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404872"/>
            <a:ext cx="181051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58384" y="5605272"/>
            <a:ext cx="219456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17536" y="1783080"/>
            <a:ext cx="2194560" cy="402336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17536" y="1783080"/>
            <a:ext cx="21945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19476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2404872"/>
            <a:ext cx="181051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JWT 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7536" y="5605272"/>
            <a:ext cx="219456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76688" y="1783080"/>
            <a:ext cx="2194560" cy="402336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76688" y="1783080"/>
            <a:ext cx="219456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77856" y="194767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7856" y="2404872"/>
            <a:ext cx="181051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Sentiment Analysis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Similar Ticket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76688" y="5605272"/>
            <a:ext cx="219456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06 · USER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User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8928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500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8308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928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500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78308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78308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8928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500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1752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01752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1272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Raise Ticket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01752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01752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1272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My Tickets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01752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01752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1272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017520"/>
            <a:ext cx="2651760" cy="105156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3017520"/>
            <a:ext cx="63500" cy="1051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312724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74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 RECOMMENDATIONS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40680"/>
            <a:ext cx="352044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5440680"/>
            <a:ext cx="352044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45896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●  User Registration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51576"/>
            <a:ext cx="3520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Registration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440680"/>
            <a:ext cx="352044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43400" y="5440680"/>
            <a:ext cx="352044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545896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●  User Login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751576"/>
            <a:ext cx="3520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Login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40680"/>
            <a:ext cx="352044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20" y="5440680"/>
            <a:ext cx="352044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545896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●  User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751576"/>
            <a:ext cx="3520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User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07 · CORE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AI Assistant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298448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38528" y="2112264.0"/>
            <a:ext cx="164592" cy="0.0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0312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1828800"/>
            <a:ext cx="1298448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01568" y="2112264.0"/>
            <a:ext cx="164592" cy="0.0"/>
          </a:xfrm>
          <a:prstGeom prst="bentConnector3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6616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1828800"/>
            <a:ext cx="1298448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4608" y="2112264.0"/>
            <a:ext cx="164592" cy="0.0"/>
          </a:xfrm>
          <a:prstGeom prst="bentConnector3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828800"/>
            <a:ext cx="1298448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27648" y="2112264.0"/>
            <a:ext cx="164592" cy="0.0"/>
          </a:xfrm>
          <a:prstGeom prst="bentConnector3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9224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828800"/>
            <a:ext cx="1298448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Sentiment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90688" y="2112264.0"/>
            <a:ext cx="164592" cy="0.0"/>
          </a:xfrm>
          <a:prstGeom prst="bentConnector3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5528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1828800"/>
            <a:ext cx="1298448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53728" y="2112264.0"/>
            <a:ext cx="164592" cy="0.0"/>
          </a:xfrm>
          <a:prstGeom prst="bentConnector3">
            <a:avLst/>
          </a:prstGeom>
          <a:ln w="2540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1832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18320" y="1828800"/>
            <a:ext cx="1298448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Recommended Resolution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16768" y="2112264.0"/>
            <a:ext cx="164592" cy="0.0"/>
          </a:xfrm>
          <a:prstGeom prst="bentConnector3">
            <a:avLst/>
          </a:prstGeom>
          <a:ln w="2540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881360" y="1828800"/>
            <a:ext cx="1298448" cy="566928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881360" y="1828800"/>
            <a:ext cx="1298448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81360" y="1847088"/>
            <a:ext cx="12984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Similar Tickets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74320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Each stage auto-enriches the ticket — output drives the draft shown to the user.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 RECOMMENDATIONS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40680"/>
            <a:ext cx="352044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5440680"/>
            <a:ext cx="352044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45896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AI Assistant Chat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51576"/>
            <a:ext cx="3520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AI Assistant Chat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440680"/>
            <a:ext cx="352044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43400" y="5440680"/>
            <a:ext cx="352044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545896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AI Response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751576"/>
            <a:ext cx="35204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AI Response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1828800"/>
            <a:ext cx="3520440" cy="365760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690"/>
                </a:solidFill>
                <a:latin typeface="Calibri"/>
              </a:rPr>
              <a:t>HOW IT HELPS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37744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Conversational intake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Zero manual fields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Confidence-scored output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E6EDF5"/>
                </a:solidFill>
                <a:latin typeface="Calibri"/>
              </a:rPr>
              <a:t>▪  One-click confirm draft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08 ·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AI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Category detection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Department detection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Sentiment analysis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Priority assignment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Root cause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690"/>
                </a:solidFill>
                <a:latin typeface="Calibri"/>
              </a:rPr>
              <a:t>WORKED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89120"/>
            <a:ext cx="4480560" cy="310896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389120"/>
            <a:ext cx="63500" cy="3108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VPN Not Working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4700016"/>
            <a:ext cx="0" cy="109728"/>
          </a:xfrm>
          <a:prstGeom prst="bentConnector3">
            <a:avLst/>
          </a:prstGeom>
          <a:ln w="2286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4809744"/>
            <a:ext cx="4480560" cy="310896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63500" cy="3108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9744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Category: Network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80360" y="5120640"/>
            <a:ext cx="0" cy="109728"/>
          </a:xfrm>
          <a:prstGeom prst="bentConnector3">
            <a:avLst/>
          </a:prstGeom>
          <a:ln w="2286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5230368"/>
            <a:ext cx="4480560" cy="310896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230368"/>
            <a:ext cx="63500" cy="3108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30368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Department: IT Support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80360" y="5541264"/>
            <a:ext cx="0" cy="109728"/>
          </a:xfrm>
          <a:prstGeom prst="bentConnector3">
            <a:avLst/>
          </a:prstGeom>
          <a:ln w="2286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5650992"/>
            <a:ext cx="4480560" cy="310896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650992"/>
            <a:ext cx="6350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50992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Priority: High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0360" y="5961888"/>
            <a:ext cx="0" cy="109728"/>
          </a:xfrm>
          <a:prstGeom prst="bentConnector3">
            <a:avLst/>
          </a:prstGeom>
          <a:ln w="2286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6071616"/>
            <a:ext cx="4480560" cy="310896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6071616"/>
            <a:ext cx="6350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071616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Root Cause: VPN config failure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80360" y="6382512"/>
            <a:ext cx="0" cy="109728"/>
          </a:xfrm>
          <a:prstGeom prst="bentConnector3">
            <a:avLst/>
          </a:prstGeom>
          <a:ln w="2286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6492240"/>
            <a:ext cx="4480560" cy="310896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6492240"/>
            <a:ext cx="63500" cy="31089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6492240"/>
            <a:ext cx="4206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AI Confidence: 95%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1828800"/>
            <a:ext cx="5897880" cy="36576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0" y="1828800"/>
            <a:ext cx="589788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1847088"/>
            <a:ext cx="5623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AI Analysis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139696"/>
            <a:ext cx="5897880" cy="3346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AI Analysis 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5778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SCREENSHOT: AI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09 · KNOWLEDGE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Similar Tickets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Knowledge reuse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Reduced duplicate tickets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Faster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47690"/>
                </a:solidFill>
                <a:latin typeface="Calibri"/>
              </a:rPr>
              <a:t>EXAMPLE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80"/>
            <a:ext cx="4389120" cy="5029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63500" cy="5029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⧉  VPN Not Working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4389120" cy="5029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635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⧉  Server 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00600"/>
            <a:ext cx="4389120" cy="5029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00600"/>
            <a:ext cx="6350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⧉  Email Not Working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94960"/>
            <a:ext cx="4389120" cy="5029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94960"/>
            <a:ext cx="6350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⧉  Login Problem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828800"/>
            <a:ext cx="5897880" cy="36576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0" y="1828800"/>
            <a:ext cx="589788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1847088"/>
            <a:ext cx="5623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●  Similar Tickets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139696"/>
            <a:ext cx="5897880" cy="3346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Similar Tickets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5778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SCREENSHOT: Similar Tickets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10 ·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Ticket Creation (AI-Auto-Filled)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AI automatically fills: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4389120" cy="77724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0" cy="777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Category  →  auto-filled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4389120" cy="77724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548640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Department  →  auto-filled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4389120" cy="77724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48640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023360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Priority  →  auto-filled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User only confirms the draft — no manual triage.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828800"/>
            <a:ext cx="5897880" cy="36576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1828800"/>
            <a:ext cx="589788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847088"/>
            <a:ext cx="5623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●  Create Ticket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39696"/>
            <a:ext cx="5897880" cy="3346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Create Ticket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5778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SCREENSHOT: Create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11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Ticket monitoring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Ticket statistics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Recent tickets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6EDF5"/>
                </a:solidFill>
                <a:latin typeface="Calibri"/>
              </a:rPr>
              <a:t>▪ 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4572000" cy="146304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457200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5020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●  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42816"/>
            <a:ext cx="4572000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SCREENSHOT: Admin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783080"/>
            <a:ext cx="2743200" cy="11887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1783080"/>
            <a:ext cx="63500" cy="1188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8745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560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783080"/>
            <a:ext cx="2743200" cy="11887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783080"/>
            <a:ext cx="63500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8745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F59E0B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560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154680"/>
            <a:ext cx="2743200" cy="11887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3154680"/>
            <a:ext cx="63500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2461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34D399"/>
                </a:solidFill>
                <a:latin typeface="Calibri"/>
              </a:rPr>
              <a:t>642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9319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Resolved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154680"/>
            <a:ext cx="2743200" cy="118872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95360" y="3154680"/>
            <a:ext cx="63500" cy="1188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32461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 i="0">
                <a:solidFill>
                  <a:srgbClr val="3B82F6"/>
                </a:solidFill>
                <a:latin typeface="Calibri"/>
              </a:rPr>
              <a:t>3.2h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9319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Avg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12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Ticket Assignment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103120" cy="86868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1031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1.  Ticket Created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258568"/>
            <a:ext cx="228600" cy="0"/>
          </a:xfrm>
          <a:prstGeom prst="bentConnector3">
            <a:avLst/>
          </a:prstGeom>
          <a:ln w="31750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1828800"/>
            <a:ext cx="2103120" cy="86868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828800"/>
            <a:ext cx="21031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82880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2.  AI Analysis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2258568"/>
            <a:ext cx="228600" cy="0"/>
          </a:xfrm>
          <a:prstGeom prst="bentConnector3">
            <a:avLst/>
          </a:prstGeom>
          <a:ln w="31750">
            <a:solidFill>
              <a:srgbClr val="3B82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03520" y="1828800"/>
            <a:ext cx="2103120" cy="86868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1828800"/>
            <a:ext cx="210312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82880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3.  Admin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2258568"/>
            <a:ext cx="228600" cy="0"/>
          </a:xfrm>
          <a:prstGeom prst="bentConnector3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35240" y="1828800"/>
            <a:ext cx="2103120" cy="86868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182880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82880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4.  Assignment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38360" y="2258568"/>
            <a:ext cx="228600" cy="0"/>
          </a:xfrm>
          <a:prstGeom prst="bentConnector3">
            <a:avLst/>
          </a:prstGeom>
          <a:ln w="3175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66960" y="1828800"/>
            <a:ext cx="2103120" cy="86868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1828800"/>
            <a:ext cx="210312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28800"/>
            <a:ext cx="2103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5. 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47690"/>
                </a:solidFill>
                <a:latin typeface="Calibri"/>
              </a:rPr>
              <a:t>SCREENSHOT RECOMMENDATIONS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4068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539496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58968"/>
            <a:ext cx="5120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●  All Tickets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51576"/>
            <a:ext cx="5394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All Tickets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44068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1F3352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5440680"/>
            <a:ext cx="5394960" cy="310896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458968"/>
            <a:ext cx="5120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●  Ticket Assignment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751576"/>
            <a:ext cx="5394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47690"/>
                </a:solidFill>
                <a:latin typeface="Calibri"/>
              </a:rPr>
              <a:t>🖼  SCREENSHOT</a:t>
            </a:r>
          </a:p>
          <a:p>
            <a:pPr algn="ctr">
              <a:spcBef>
                <a:spcPts val="400"/>
              </a:spcBef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Ticket 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13 · 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Challenges Faced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Category not loading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Priority not loading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Department not loading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Assignment problems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Authentication errors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6EDF5"/>
                </a:solidFill>
                <a:latin typeface="Calibri"/>
              </a:rPr>
              <a:t>▪  Dashboard sync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5440680" cy="411480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BEFORE  → 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F86B6B"/>
                </a:solidFill>
                <a:latin typeface="Calibri"/>
              </a:rPr>
              <a:t>Fields empty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2679192"/>
            <a:ext cx="36576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0" y="246888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Auto-populated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3375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F86B6B"/>
                </a:solidFill>
                <a:latin typeface="Calibri"/>
              </a:rPr>
              <a:t>Manual triage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3547872"/>
            <a:ext cx="36576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35440" y="333756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AI-assisted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0624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F86B6B"/>
                </a:solidFill>
                <a:latin typeface="Calibri"/>
              </a:rPr>
              <a:t>Sync lag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0" y="4416552"/>
            <a:ext cx="36576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235440" y="420624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Real-time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07492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F86B6B"/>
                </a:solidFill>
                <a:latin typeface="Calibri"/>
              </a:rPr>
              <a:t>Auth failures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5285232"/>
            <a:ext cx="365760" cy="0"/>
          </a:xfrm>
          <a:prstGeom prst="bentConnector3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35440" y="50749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JWT refresh fixed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14 ·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Solutions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5661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476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47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AI-based automatic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5661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194767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947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Department 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5661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19476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947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alibri"/>
              </a:rPr>
              <a:t>Sentiment-based priority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35661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" y="418795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187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Database synchronization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023360"/>
            <a:ext cx="356616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53712" y="4187952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187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API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4023360"/>
            <a:ext cx="35661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2752" y="418795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187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Role-based filtering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Solution flowchart:  Detect gap  →  Add AI step  →  Validate  →  Sync  →  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15 ·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Project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5661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94767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47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Faster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0592"/>
            <a:ext cx="31821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AI triage in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56616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1947672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947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Reduced manual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50592"/>
            <a:ext cx="31821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Auto-fill core 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78308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783080"/>
            <a:ext cx="3566160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476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1947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94767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alibri"/>
              </a:rPr>
              <a:t>Better prioritization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450592"/>
            <a:ext cx="31821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Sentiment-aware ranking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35661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418795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187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59E0B"/>
                </a:solidFill>
                <a:latin typeface="Calibri"/>
              </a:rPr>
              <a:t>AI troubleshooting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690872"/>
            <a:ext cx="31821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Guided resolutions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023360"/>
            <a:ext cx="3566160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3712" y="4187952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87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34D399"/>
                </a:solidFill>
                <a:latin typeface="Calibri"/>
              </a:rPr>
              <a:t>Similar-ticket recs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690872"/>
            <a:ext cx="31821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Reuse past fixes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023360"/>
            <a:ext cx="3566160" cy="201168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023360"/>
            <a:ext cx="356616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02752" y="418795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4187952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Scalable 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4690872"/>
            <a:ext cx="318211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Admin-ready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16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92024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7988" y="2011680"/>
            <a:ext cx="237744" cy="23774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5612" y="2423160"/>
            <a:ext cx="1682496" cy="23774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612" y="2423160"/>
            <a:ext cx="1682496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780" y="2587752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RAG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780" y="3044952"/>
            <a:ext cx="1298448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Retrieval-augmented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12" y="1645920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Q1</a:t>
            </a:r>
          </a:p>
        </p:txBody>
      </p:sp>
      <p:sp>
        <p:nvSpPr>
          <p:cNvPr id="14" name="Oval 13"/>
          <p:cNvSpPr/>
          <p:nvPr/>
        </p:nvSpPr>
        <p:spPr>
          <a:xfrm>
            <a:off x="3241548" y="2011680"/>
            <a:ext cx="237744" cy="23774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9172" y="2423160"/>
            <a:ext cx="1682496" cy="23774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9172" y="2423160"/>
            <a:ext cx="1682496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0340" y="2587752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Voice ticket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0340" y="3044952"/>
            <a:ext cx="1298448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Speech-to-ticket intake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172" y="1645920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Q2</a:t>
            </a:r>
          </a:p>
        </p:txBody>
      </p:sp>
      <p:sp>
        <p:nvSpPr>
          <p:cNvPr id="20" name="Oval 19"/>
          <p:cNvSpPr/>
          <p:nvPr/>
        </p:nvSpPr>
        <p:spPr>
          <a:xfrm>
            <a:off x="5055108" y="2011680"/>
            <a:ext cx="237744" cy="23774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2732" y="2423160"/>
            <a:ext cx="1682496" cy="23774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2732" y="2423160"/>
            <a:ext cx="1682496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3900" y="2587752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8B5CF6"/>
                </a:solidFill>
                <a:latin typeface="Calibri"/>
              </a:rPr>
              <a:t>Email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3900" y="3044952"/>
            <a:ext cx="1298448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SMTP alerts &amp; digests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2732" y="1645920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Q3</a:t>
            </a:r>
          </a:p>
        </p:txBody>
      </p:sp>
      <p:sp>
        <p:nvSpPr>
          <p:cNvPr id="26" name="Oval 25"/>
          <p:cNvSpPr/>
          <p:nvPr/>
        </p:nvSpPr>
        <p:spPr>
          <a:xfrm>
            <a:off x="6868668" y="201168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6292" y="2423160"/>
            <a:ext cx="1682496" cy="23774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6292" y="2423160"/>
            <a:ext cx="1682496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7460" y="2587752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59E0B"/>
                </a:solidFill>
                <a:latin typeface="Calibri"/>
              </a:rPr>
              <a:t>Knowledge-base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460" y="3044952"/>
            <a:ext cx="1298448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Docs + past tickets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6292" y="1645920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</a:t>
            </a:r>
          </a:p>
        </p:txBody>
      </p:sp>
      <p:sp>
        <p:nvSpPr>
          <p:cNvPr id="32" name="Oval 31"/>
          <p:cNvSpPr/>
          <p:nvPr/>
        </p:nvSpPr>
        <p:spPr>
          <a:xfrm>
            <a:off x="8682228" y="2011680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9852" y="2423160"/>
            <a:ext cx="1682496" cy="23774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9852" y="2423160"/>
            <a:ext cx="1682496" cy="50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1020" y="2587752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34D399"/>
                </a:solidFill>
                <a:latin typeface="Calibri"/>
              </a:rPr>
              <a:t>Advanced AI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1020" y="3044952"/>
            <a:ext cx="1298448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Larger LLMs / fine-tune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9852" y="1645920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Q5</a:t>
            </a:r>
          </a:p>
        </p:txBody>
      </p:sp>
      <p:sp>
        <p:nvSpPr>
          <p:cNvPr id="38" name="Oval 37"/>
          <p:cNvSpPr/>
          <p:nvPr/>
        </p:nvSpPr>
        <p:spPr>
          <a:xfrm>
            <a:off x="10495788" y="2011680"/>
            <a:ext cx="237744" cy="23774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73412" y="2423160"/>
            <a:ext cx="1682496" cy="2377440"/>
          </a:xfrm>
          <a:prstGeom prst="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73412" y="2423160"/>
            <a:ext cx="1682496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74580" y="2587752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Multilingual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4580" y="3044952"/>
            <a:ext cx="1298448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E6EDF5"/>
                </a:solidFill>
                <a:latin typeface="Calibri"/>
              </a:rPr>
              <a:t>•  EN / TA / HI / etc.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3412" y="1645920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Q6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647690"/>
                </a:solidFill>
                <a:latin typeface="Calibri"/>
              </a:rPr>
              <a:t>NexDesk  ·  AI-Based IT Ticket Management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6476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27432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improves ticket analysis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improves troubleshooting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reduces duplicate tickets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6EDF5"/>
                </a:solidFill>
                <a:latin typeface="Calibri"/>
              </a:rPr>
              <a:t>▪  AI improves ticket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94560"/>
            <a:ext cx="3840480" cy="2743200"/>
          </a:xfrm>
          <a:prstGeom prst="round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42316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400" b="1" i="0">
                <a:solidFill>
                  <a:srgbClr val="2DD4BF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291840"/>
            <a:ext cx="3383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E6EDF5"/>
                </a:solidFill>
                <a:latin typeface="Calibri"/>
              </a:rPr>
              <a:t>NexDesk — AI-Based IT Ticket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E6EDF5"/>
                </a:solidFill>
                <a:latin typeface="Calibri"/>
              </a:rPr>
              <a:t>Management System</a:t>
            </a:r>
          </a:p>
          <a:p>
            <a:pPr algn="l">
              <a:spcBef>
                <a:spcPts val="1200"/>
              </a:spcBef>
              <a:spcAft>
                <a:spcPts val="5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Prepared for mentor / engineering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Questions &amp; discussion welcome  ·  Demo: localhost:5173  ·  API: 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